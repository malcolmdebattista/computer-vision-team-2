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96</c:v>
                </c:pt>
                <c:pt idx="7">
                  <c:v>112</c:v>
                </c:pt>
                <c:pt idx="8">
                  <c:v>128</c:v>
                </c:pt>
                <c:pt idx="9">
                  <c:v>144</c:v>
                </c:pt>
                <c:pt idx="10">
                  <c:v>160</c:v>
                </c:pt>
                <c:pt idx="11">
                  <c:v>176</c:v>
                </c:pt>
                <c:pt idx="12">
                  <c:v>192</c:v>
                </c:pt>
                <c:pt idx="13">
                  <c:v>208</c:v>
                </c:pt>
                <c:pt idx="14">
                  <c:v>224</c:v>
                </c:pt>
                <c:pt idx="15">
                  <c:v>240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8</c:v>
                </c:pt>
                <c:pt idx="6">
                  <c:v>18</c:v>
                </c:pt>
                <c:pt idx="7">
                  <c:v>25</c:v>
                </c:pt>
                <c:pt idx="8">
                  <c:v>22</c:v>
                </c:pt>
                <c:pt idx="9">
                  <c:v>12</c:v>
                </c:pt>
                <c:pt idx="10">
                  <c:v>4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CC-48AF-A3E5-8F19132DCF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96</c:v>
                </c:pt>
                <c:pt idx="7">
                  <c:v>112</c:v>
                </c:pt>
                <c:pt idx="8">
                  <c:v>128</c:v>
                </c:pt>
                <c:pt idx="9">
                  <c:v>144</c:v>
                </c:pt>
                <c:pt idx="10">
                  <c:v>160</c:v>
                </c:pt>
                <c:pt idx="11">
                  <c:v>176</c:v>
                </c:pt>
                <c:pt idx="12">
                  <c:v>192</c:v>
                </c:pt>
                <c:pt idx="13">
                  <c:v>208</c:v>
                </c:pt>
                <c:pt idx="14">
                  <c:v>224</c:v>
                </c:pt>
                <c:pt idx="15">
                  <c:v>240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6</c:v>
                </c:pt>
                <c:pt idx="10">
                  <c:v>6</c:v>
                </c:pt>
                <c:pt idx="11">
                  <c:v>7</c:v>
                </c:pt>
                <c:pt idx="12">
                  <c:v>5</c:v>
                </c:pt>
                <c:pt idx="13">
                  <c:v>6</c:v>
                </c:pt>
                <c:pt idx="14">
                  <c:v>6</c:v>
                </c:pt>
                <c:pt idx="1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CC-48AF-A3E5-8F19132DC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Pixels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</c:v>
                </c:pt>
                <c:pt idx="1">
                  <c:v>5</c:v>
                </c:pt>
                <c:pt idx="2">
                  <c:v>15</c:v>
                </c:pt>
                <c:pt idx="3">
                  <c:v>30</c:v>
                </c:pt>
                <c:pt idx="4">
                  <c:v>28</c:v>
                </c:pt>
                <c:pt idx="5">
                  <c:v>18</c:v>
                </c:pt>
                <c:pt idx="6">
                  <c:v>8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2</c:v>
                </c:pt>
                <c:pt idx="22">
                  <c:v>4</c:v>
                </c:pt>
                <c:pt idx="23">
                  <c:v>12</c:v>
                </c:pt>
                <c:pt idx="24">
                  <c:v>38</c:v>
                </c:pt>
                <c:pt idx="25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4-477C-8D5F-49A6642DA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02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  (~20 sec)</a:t>
            </a:r>
          </a:p>
          <a:p>
            <a:endParaRPr/>
          </a:p>
          <a:p>
            <a:r>
              <a:t>Say: 'Hi everyone. Our presentation is on Histogram Equalisation and CLAHE — two techniques that automatically fix contrast in images. I am covering the foundations: what images are, what contrast is, what a histogram shows, and what we are trying to fix. Over to my teammates after that.'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 (~35 sec)</a:t>
            </a:r>
          </a:p>
          <a:p>
            <a:endParaRPr/>
          </a:p>
          <a:p>
            <a:r>
              <a:t>Say: 'Let's start from scratch. A digital image is a grid. Every tiny square in that grid is called a pixel, and each pixel holds a single number. Zero is pure black, 255 is pure white — everything in between is grey.</a:t>
            </a:r>
          </a:p>
          <a:p>
            <a:endParaRPr/>
          </a:p>
          <a:p>
            <a:r>
              <a:t>You can see it here on the right: the photo on the left, zoomed in so the pixels are visible in the middle, and the actual numbers on the right.</a:t>
            </a:r>
          </a:p>
          <a:p>
            <a:endParaRPr/>
          </a:p>
          <a:p>
            <a:r>
              <a:t>When we do image processing, we are just doing maths on those numbers. That is the entire foundation.'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 (~35 sec)</a:t>
            </a:r>
          </a:p>
          <a:p>
            <a:endParaRPr/>
          </a:p>
          <a:p>
            <a:r>
              <a:t>Say: 'Now contrast. Contrast is just how spread out the pixel values are.</a:t>
            </a:r>
          </a:p>
          <a:p>
            <a:endParaRPr/>
          </a:p>
          <a:p>
            <a:r>
              <a:t>On the right you can see the same foggy forest scene twice. On the left version, the values are all squashed into a narrow range — everything looks grey and flat. On the right version, the values cover a wider range — you can see more trees, more depth, more detail.</a:t>
            </a:r>
          </a:p>
          <a:p>
            <a:endParaRPr/>
          </a:p>
          <a:p>
            <a:r>
              <a:t>The only difference is the range of numbers. That is what contrast 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 (~35 sec)</a:t>
            </a:r>
          </a:p>
          <a:p>
            <a:endParaRPr/>
          </a:p>
          <a:p>
            <a:r>
              <a:t>Say: 'To measure contrast in a way we can work with, we use a histogram. It is a bar chart that counts pixels — for every brightness value from 0 to 255, it shows how many pixels have that value.</a:t>
            </a:r>
          </a:p>
          <a:p>
            <a:endParaRPr/>
          </a:p>
          <a:p>
            <a:r>
              <a:t>On the right you can see our foggy forest photo and its actual histogram. Notice the bars are all bunched in the middle — that spike tells us almost all pixels are a similar shade of grey. No real blacks, no real whites.</a:t>
            </a:r>
          </a:p>
          <a:p>
            <a:endParaRPr/>
          </a:p>
          <a:p>
            <a:r>
              <a:t>This histogram shape confirms the problem. Now we can fix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 (~35 sec)</a:t>
            </a:r>
          </a:p>
          <a:p>
            <a:endParaRPr/>
          </a:p>
          <a:p>
            <a:r>
              <a:t>Say: 'Three shapes to know. Left: a dark image — bars piled on the left side, most pixels close to zero. Middle: overexposed — bars pushed right, everything too bright. Right: low contrast, like our forest — narrow spike in the middle, all values similar.</a:t>
            </a:r>
          </a:p>
          <a:p>
            <a:endParaRPr/>
          </a:p>
          <a:p>
            <a:r>
              <a:t>In each case the histogram diagnoses the problem immediately. You do not even need to look at the photo.'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 (~35 sec)</a:t>
            </a:r>
          </a:p>
          <a:p>
            <a:endParaRPr/>
          </a:p>
          <a:p>
            <a:r>
              <a:t>Say: 'The goal is simple: take that cramped histogram and stretch it across the full 0 to 255 range. When that happens, the image automatically looks sharper — more contrast between areas means more visible detail.</a:t>
            </a:r>
          </a:p>
          <a:p>
            <a:endParaRPr/>
          </a:p>
          <a:p>
            <a:r>
              <a:t>Here is the result on our foggy forest. Before on the left: flat and grey. After on the right: same image, same scene, just with the pixel values remapped. Look at the histograms below — before is squashed, after is spread.</a:t>
            </a:r>
          </a:p>
          <a:p>
            <a:endParaRPr/>
          </a:p>
          <a:p>
            <a:r>
              <a:t>That is the idea. My teammate will now show you the exact maths behind how those new values are calculated.'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9DBA-F90E-C784-CD7B-98F592F7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24C82-B504-0286-AFBC-D6829DE28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F4E1B-ADDB-8D3F-13C8-E1472A56F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020AF-E3B0-C710-71C4-AB9A1059E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91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5069-C6EB-F1DD-BBEC-95D4195C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C44E9-F16B-AAB6-B461-A0D594DD2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0D1EB-9B6F-B633-1D33-A719BCA6E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A6C06-0DCF-0501-9DD3-2D9AA827C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3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5B3CA-D108-5851-7F22-9D9B9AAE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1FE47-6F0A-7105-AB30-EE29F4A37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DDBE9-C102-F6CC-3CF6-BB486D7FF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169A2-5EC8-F0AC-0FB8-D90EB5361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40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6011-9F06-0370-BD80-9BB5C125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74920-4BE6-4986-636E-B0CEDEBB0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DF6C7-7841-3F69-5760-5A05376DB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82302-0DA5-00EC-465F-CDA35F971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69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16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alibri"/>
              </a:rPr>
              <a:t>Point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1A2E"/>
                </a:solidFill>
                <a:latin typeface="Calibri"/>
              </a:rPr>
              <a:t>Histogram Equalisation and CLAHE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547872"/>
            <a:ext cx="578815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Calibri"/>
              </a:rPr>
              <a:t>ARI 2129  |  Principles of Computer Vision for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What is a Digital Image?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86968"/>
            <a:ext cx="1136599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A digital image is a grid of tiny squares, each one called a pixel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Every pixel holds one number. Zero is black, 255 is white, anything else is grey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A 1080p photo has over 2 million of these numbers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Image processing is just maths on those numbers</a:t>
            </a:r>
          </a:p>
        </p:txBody>
      </p:sp>
      <p:pic>
        <p:nvPicPr>
          <p:cNvPr id="6" name="Picture 5" descr="img1_pixe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27798"/>
            <a:ext cx="6793992" cy="26424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86032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BBB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What is Contrast?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86968"/>
            <a:ext cx="1136599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Contrast is how spread out the pixel values are in an image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High contrast: values run wide, the image looks sharp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Low contrast: values are all bunched in a narrow range, everything looks flat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Foggy photos are the obvious example. Medical scans have the same problem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Without contrast, the eye cannot tell one thing from another</a:t>
            </a:r>
          </a:p>
        </p:txBody>
      </p:sp>
      <p:pic>
        <p:nvPicPr>
          <p:cNvPr id="6" name="Picture 5" descr="img2_contr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97854"/>
            <a:ext cx="6793992" cy="3902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86032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BBB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What is a Histogram?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86968"/>
            <a:ext cx="1136599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A histogram counts how many pixels sit at each brightness level, 0 to 255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Bars on the left: lots of dark pixels. Bars on the right: lots of bright ones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A narrow spike means low contrast. A wide spread means good contrast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You can read the problem off the chart before you even look at the photo</a:t>
            </a:r>
          </a:p>
          <a:p>
            <a:pPr>
              <a:spcBef>
                <a:spcPts val="900"/>
              </a:spcBef>
              <a:spcAft>
                <a:spcPts val="100"/>
              </a:spcAft>
            </a:pPr>
            <a:r>
              <a:rPr sz="1700">
                <a:solidFill>
                  <a:srgbClr val="2E2E2E"/>
                </a:solidFill>
                <a:latin typeface="Calibri"/>
              </a:rPr>
              <a:t>•   Histogram equalisation reshapes this chart to cover the full range</a:t>
            </a:r>
          </a:p>
        </p:txBody>
      </p:sp>
      <p:pic>
        <p:nvPicPr>
          <p:cNvPr id="6" name="Picture 5" descr="img3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911061"/>
            <a:ext cx="6793992" cy="36759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86032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BBB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Reading a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86968"/>
            <a:ext cx="1136599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77777"/>
                </a:solidFill>
                <a:latin typeface="Calibri"/>
              </a:rPr>
              <a:t>Three shapes. Each one tells you something different about the image:</a:t>
            </a:r>
          </a:p>
        </p:txBody>
      </p:sp>
      <p:pic>
        <p:nvPicPr>
          <p:cNvPr id="6" name="Picture 5" descr="img4_three_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86" y="1371600"/>
            <a:ext cx="891357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86032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BBB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The Goal: Spread the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86968"/>
            <a:ext cx="1136599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The algorithm reads the image's own histogram and remaps every pixel's brightness to cover the full 0 to 255 range. You give it an image, it works out the rest.</a:t>
            </a:r>
          </a:p>
        </p:txBody>
      </p:sp>
      <p:pic>
        <p:nvPicPr>
          <p:cNvPr id="6" name="Picture 5" descr="img5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583" y="1481328"/>
            <a:ext cx="8701784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86032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BBB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080" y="457974"/>
            <a:ext cx="11171451" cy="1139528"/>
          </a:xfrm>
        </p:spPr>
        <p:txBody>
          <a:bodyPr anchor="t">
            <a:normAutofit fontScale="92500" lnSpcReduction="20000"/>
          </a:bodyPr>
          <a:lstStyle/>
          <a:p>
            <a:r>
              <a:rPr lang="en-GB" sz="4399" b="1" dirty="0">
                <a:solidFill>
                  <a:schemeClr val="tx2">
                    <a:lumMod val="75000"/>
                  </a:schemeClr>
                </a:solidFill>
              </a:rPr>
              <a:t>Point Processing</a:t>
            </a:r>
          </a:p>
          <a:p>
            <a:r>
              <a:rPr lang="en-GB" sz="3599" b="1" dirty="0">
                <a:solidFill>
                  <a:schemeClr val="tx2">
                    <a:lumMod val="75000"/>
                  </a:schemeClr>
                </a:solidFill>
              </a:rPr>
              <a:t>What is Point Processing?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CF4037-0686-0566-5847-54E513084DA8}"/>
              </a:ext>
            </a:extLst>
          </p:cNvPr>
          <p:cNvSpPr txBox="1"/>
          <p:nvPr/>
        </p:nvSpPr>
        <p:spPr>
          <a:xfrm>
            <a:off x="365128" y="1503638"/>
            <a:ext cx="11274663" cy="1569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Point processing is a basic image processing technique where each output pixel depends only on the corresponding input pixel. 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The same transformation rule is applied independently to every pixel in the image.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 No neighbouring pixels are involved.</a:t>
            </a:r>
            <a:endParaRPr lang="en-MT" sz="2399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09CC42-F399-29E3-1658-9F483F22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96" y="3197827"/>
            <a:ext cx="5264449" cy="14115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214F6C-05BA-78E6-233F-2AA153E6E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62" y="4866406"/>
            <a:ext cx="5534116" cy="7517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5035EE-DDFA-EBE0-CD51-F056C200408E}"/>
              </a:ext>
            </a:extLst>
          </p:cNvPr>
          <p:cNvSpPr txBox="1"/>
          <p:nvPr/>
        </p:nvSpPr>
        <p:spPr>
          <a:xfrm>
            <a:off x="281697" y="5875154"/>
            <a:ext cx="11731745" cy="1107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9" u="sng" dirty="0"/>
              <a:t>Key Idea: Histogram equalisation is still a point processing method because once the mapping function is created, every pixel is remapped independently.</a:t>
            </a:r>
          </a:p>
          <a:p>
            <a:endParaRPr lang="en-MT" sz="1799" dirty="0"/>
          </a:p>
        </p:txBody>
      </p:sp>
      <p:pic>
        <p:nvPicPr>
          <p:cNvPr id="11" name="Picture 10" descr="Point operator in image processing | by Nattadet C. | Nattadet C. | Medium">
            <a:extLst>
              <a:ext uri="{FF2B5EF4-FFF2-40B4-BE49-F238E27FC236}">
                <a16:creationId xmlns:a16="http://schemas.microsoft.com/office/drawing/2014/main" id="{9FBFA2C6-92CC-4D7A-39A2-004EC7BB7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082" y="2652544"/>
            <a:ext cx="5264449" cy="325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74F9-546A-A47F-274D-49E80B7D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96262E54-177B-6A3B-17C2-76AC5FA3E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080" y="457974"/>
            <a:ext cx="11171451" cy="1139528"/>
          </a:xfrm>
        </p:spPr>
        <p:txBody>
          <a:bodyPr anchor="t">
            <a:normAutofit fontScale="92500" lnSpcReduction="10000"/>
          </a:bodyPr>
          <a:lstStyle/>
          <a:p>
            <a:r>
              <a:rPr lang="en-GB" sz="4399" b="1" dirty="0">
                <a:solidFill>
                  <a:schemeClr val="tx2">
                    <a:lumMod val="75000"/>
                  </a:schemeClr>
                </a:solidFill>
              </a:rPr>
              <a:t>The Normalised Histogram</a:t>
            </a:r>
          </a:p>
          <a:p>
            <a:r>
              <a:rPr lang="en-GB" sz="2799" b="1" dirty="0">
                <a:solidFill>
                  <a:schemeClr val="tx2">
                    <a:lumMod val="75000"/>
                  </a:schemeClr>
                </a:solidFill>
              </a:rPr>
              <a:t>What is a Histogram?</a:t>
            </a:r>
            <a:endParaRPr lang="en-US" sz="2799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2215A-B9AE-1F83-35AB-7CB32478E066}"/>
              </a:ext>
            </a:extLst>
          </p:cNvPr>
          <p:cNvSpPr txBox="1"/>
          <p:nvPr/>
        </p:nvSpPr>
        <p:spPr>
          <a:xfrm>
            <a:off x="457081" y="1597502"/>
            <a:ext cx="11274663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A histogram counts how many pixels exist at each brightness level. 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In an 8-bit image there are 256 possible intensity levels from 0 to 255.</a:t>
            </a:r>
            <a:endParaRPr lang="en-MT" sz="239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7EA55-9351-1948-7D0E-7E64CB547772}"/>
              </a:ext>
            </a:extLst>
          </p:cNvPr>
          <p:cNvSpPr txBox="1"/>
          <p:nvPr/>
        </p:nvSpPr>
        <p:spPr>
          <a:xfrm>
            <a:off x="457080" y="5084916"/>
            <a:ext cx="5917480" cy="184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399" dirty="0"/>
          </a:p>
          <a:p>
            <a:r>
              <a:rPr lang="en-GB" sz="2399" u="sng" dirty="0"/>
              <a:t>Key Idea: The normalised histogram tells us how image brightness values are distributed across the image.</a:t>
            </a:r>
          </a:p>
          <a:p>
            <a:endParaRPr lang="en-MT" sz="17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4F890-09A8-64F3-9D9C-FBE9BA611177}"/>
              </a:ext>
            </a:extLst>
          </p:cNvPr>
          <p:cNvSpPr txBox="1"/>
          <p:nvPr/>
        </p:nvSpPr>
        <p:spPr>
          <a:xfrm>
            <a:off x="6623664" y="2759417"/>
            <a:ext cx="5108080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9" dirty="0"/>
              <a:t>The normalised histogram converts raw counts into probabilities:</a:t>
            </a:r>
            <a:endParaRPr lang="en-MT" sz="239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A99DCF-EBD9-D7F1-46DB-87F76CAE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249" y="3697908"/>
            <a:ext cx="2224908" cy="11124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F4E2BC-552C-5927-FBE8-D3040EC6EF71}"/>
                  </a:ext>
                </a:extLst>
              </p:cNvPr>
              <p:cNvSpPr txBox="1"/>
              <p:nvPr/>
            </p:nvSpPr>
            <p:spPr>
              <a:xfrm>
                <a:off x="6623663" y="5084916"/>
                <a:ext cx="5773654" cy="830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399" dirty="0"/>
                  <a:t>nk​ = number of pixels with intensity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99"/>
                        </m:ctrlPr>
                      </m:sSubPr>
                      <m:e>
                        <m:r>
                          <a:rPr lang="ar-AE" sz="2399" i="1"/>
                          <m:t>𝑟</m:t>
                        </m:r>
                      </m:e>
                      <m:sub>
                        <m:r>
                          <a:rPr lang="en-GB" sz="2399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sz="2399" i="1" dirty="0"/>
              </a:p>
              <a:p>
                <a14:m>
                  <m:oMath xmlns:m="http://schemas.openxmlformats.org/officeDocument/2006/math">
                    <m:r>
                      <a:rPr lang="ar-AE" sz="2399" i="1"/>
                      <m:t>𝑁</m:t>
                    </m:r>
                  </m:oMath>
                </a14:m>
                <a:r>
                  <a:rPr lang="ar-AE" sz="2399" dirty="0"/>
                  <a:t>= </a:t>
                </a:r>
                <a:r>
                  <a:rPr lang="en-GB" sz="2399" dirty="0"/>
                  <a:t>total number of pixels</a:t>
                </a:r>
                <a:endParaRPr lang="en-MT" sz="2399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F4E2BC-552C-5927-FBE8-D3040EC6E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663" y="5084916"/>
                <a:ext cx="5773654" cy="830781"/>
              </a:xfrm>
              <a:prstGeom prst="rect">
                <a:avLst/>
              </a:prstGeom>
              <a:blipFill>
                <a:blip r:embed="rId4"/>
                <a:stretch>
                  <a:fillRect l="-1690" t="-5882" b="-16176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Understanding Histogram in Photography (in Plain Language)">
            <a:extLst>
              <a:ext uri="{FF2B5EF4-FFF2-40B4-BE49-F238E27FC236}">
                <a16:creationId xmlns:a16="http://schemas.microsoft.com/office/drawing/2014/main" id="{4C7D2923-66F9-2740-0C81-99FEC95C7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92" y="2428283"/>
            <a:ext cx="5773653" cy="29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8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812B-773E-499A-4EB9-0D79CE12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C82021B-CCAA-4DD2-5026-231BD5A8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080" y="457974"/>
            <a:ext cx="11171451" cy="1139528"/>
          </a:xfrm>
        </p:spPr>
        <p:txBody>
          <a:bodyPr anchor="t">
            <a:normAutofit fontScale="92500" lnSpcReduction="20000"/>
          </a:bodyPr>
          <a:lstStyle/>
          <a:p>
            <a:r>
              <a:rPr lang="en-GB" sz="3899" b="1" dirty="0">
                <a:solidFill>
                  <a:schemeClr val="tx2">
                    <a:lumMod val="75000"/>
                  </a:schemeClr>
                </a:solidFill>
              </a:rPr>
              <a:t>The Cumulative Distribution Function (CDF)</a:t>
            </a:r>
          </a:p>
          <a:p>
            <a:r>
              <a:rPr lang="en-GB" sz="3899" b="1" dirty="0">
                <a:solidFill>
                  <a:schemeClr val="tx2">
                    <a:lumMod val="75000"/>
                  </a:schemeClr>
                </a:solidFill>
              </a:rPr>
              <a:t>What is the CDF?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2112AE-800B-BCED-DF1C-BE0AE75AF9CA}"/>
              </a:ext>
            </a:extLst>
          </p:cNvPr>
          <p:cNvSpPr txBox="1"/>
          <p:nvPr/>
        </p:nvSpPr>
        <p:spPr>
          <a:xfrm>
            <a:off x="405473" y="1780068"/>
            <a:ext cx="11274663" cy="120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The CDF is the running total of histogram probabilities.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The CDF becomes the transformation function used in histogram equalisation.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GB" sz="2399" dirty="0"/>
              <a:t> It spreads intensity values across a wider brightness range.</a:t>
            </a:r>
            <a:endParaRPr lang="en-MT" sz="239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E6DBE-38EA-4547-73A6-F6D21EEC0C66}"/>
              </a:ext>
            </a:extLst>
          </p:cNvPr>
          <p:cNvSpPr txBox="1"/>
          <p:nvPr/>
        </p:nvSpPr>
        <p:spPr>
          <a:xfrm>
            <a:off x="405473" y="3162650"/>
            <a:ext cx="5917480" cy="332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9" dirty="0"/>
              <a:t>The CDF answers the question:</a:t>
            </a:r>
          </a:p>
          <a:p>
            <a:r>
              <a:rPr lang="en-GB" sz="2399" dirty="0"/>
              <a:t>“How much of the image is this bright or darker?” A CDF just answers one question for every </a:t>
            </a:r>
            <a:r>
              <a:rPr lang="en-GB" sz="2399" dirty="0" err="1"/>
              <a:t>intesity</a:t>
            </a:r>
            <a:r>
              <a:rPr lang="en-GB" sz="2399" dirty="0"/>
              <a:t> level: "what fraction of all </a:t>
            </a:r>
            <a:r>
              <a:rPr lang="en-GB" sz="2399" dirty="0" err="1"/>
              <a:t>piels</a:t>
            </a:r>
            <a:r>
              <a:rPr lang="en-GB" sz="2399" dirty="0"/>
              <a:t> are at or below this value"</a:t>
            </a:r>
          </a:p>
          <a:p>
            <a:r>
              <a:rPr lang="en-GB" sz="2399" b="1" u="sng" dirty="0"/>
              <a:t>Key Idea: </a:t>
            </a:r>
            <a:r>
              <a:rPr lang="en-GB" sz="2399" u="sng" dirty="0"/>
              <a:t>Histogram equalisation works because the CDF redistributes pixel intensities more evenly across the available range.</a:t>
            </a:r>
          </a:p>
          <a:p>
            <a:endParaRPr lang="en-MT" sz="1799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D2ED4B-0E2E-1D29-F3CC-A91DAF8A1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580" y="1055702"/>
            <a:ext cx="2924556" cy="1083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384CF9-F990-B70C-37C0-1C0C51F6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136" y="2980085"/>
            <a:ext cx="5256887" cy="301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2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A3AA1-785A-DA34-966B-732DED25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E33C3EAA-15BB-A110-1F33-747D4E0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080" y="358186"/>
            <a:ext cx="11171451" cy="1139528"/>
          </a:xfrm>
        </p:spPr>
        <p:txBody>
          <a:bodyPr anchor="t">
            <a:normAutofit fontScale="92500" lnSpcReduction="20000"/>
          </a:bodyPr>
          <a:lstStyle/>
          <a:p>
            <a:r>
              <a:rPr lang="en-GB" sz="3999" b="1" dirty="0">
                <a:solidFill>
                  <a:schemeClr val="tx2">
                    <a:lumMod val="75000"/>
                  </a:schemeClr>
                </a:solidFill>
              </a:rPr>
              <a:t>Deriving the Lookup Table</a:t>
            </a:r>
          </a:p>
          <a:p>
            <a:r>
              <a:rPr lang="en-GB" sz="3999" b="1" dirty="0">
                <a:solidFill>
                  <a:schemeClr val="tx2">
                    <a:lumMod val="75000"/>
                  </a:schemeClr>
                </a:solidFill>
              </a:rPr>
              <a:t>From CDF to New Pixel Values</a:t>
            </a:r>
            <a:endParaRPr lang="en-US" sz="3999" b="1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DAABBA-0F08-ADFC-D1DB-3967105E65BB}"/>
                  </a:ext>
                </a:extLst>
              </p:cNvPr>
              <p:cNvSpPr txBox="1"/>
              <p:nvPr/>
            </p:nvSpPr>
            <p:spPr>
              <a:xfrm>
                <a:off x="457080" y="1597502"/>
                <a:ext cx="5677426" cy="4895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399" dirty="0"/>
                  <a:t>Once the CDF is computed, it is scaled to the output brightness range: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399"/>
                          </m:ctrlPr>
                        </m:sSubPr>
                        <m:e>
                          <m:r>
                            <a:rPr lang="ar-AE" sz="2399" i="1"/>
                            <m:t>𝑠</m:t>
                          </m:r>
                        </m:e>
                        <m:sub>
                          <m:r>
                            <a:rPr lang="ar-AE" sz="2399" i="1"/>
                            <m:t>𝑘</m:t>
                          </m:r>
                        </m:sub>
                      </m:sSub>
                      <m:r>
                        <a:rPr lang="ar-AE" sz="2399"/>
                        <m:t>=</m:t>
                      </m:r>
                      <m:r>
                        <a:rPr lang="ar-AE" sz="2399" i="1"/>
                        <m:t>𝑟𝑜𝑢𝑛𝑑</m:t>
                      </m:r>
                      <m:d>
                        <m:dPr>
                          <m:ctrlPr>
                            <a:rPr lang="ar-AE" sz="2399" i="1"/>
                          </m:ctrlPr>
                        </m:dPr>
                        <m:e>
                          <m:d>
                            <m:dPr>
                              <m:ctrlPr>
                                <a:rPr lang="ar-AE" sz="2399" i="1"/>
                              </m:ctrlPr>
                            </m:dPr>
                            <m:e>
                              <m:r>
                                <a:rPr lang="ar-AE" sz="2399" i="1"/>
                                <m:t>𝐿</m:t>
                              </m:r>
                              <m:r>
                                <a:rPr lang="ar-AE" sz="2399"/>
                                <m:t>−</m:t>
                              </m:r>
                              <m:r>
                                <a:rPr lang="ar-AE" sz="2399"/>
                                <m:t>1</m:t>
                              </m:r>
                            </m:e>
                          </m:d>
                          <m:r>
                            <a:rPr lang="ar-AE" sz="2399"/>
                            <m:t>×</m:t>
                          </m:r>
                          <m:r>
                            <a:rPr lang="ar-AE" sz="2399" i="1"/>
                            <m:t>𝐶𝐷𝐹</m:t>
                          </m:r>
                          <m:d>
                            <m:dPr>
                              <m:ctrlPr>
                                <a:rPr lang="ar-AE" sz="2399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399" i="1"/>
                                  </m:ctrlPr>
                                </m:sSubPr>
                                <m:e>
                                  <m:r>
                                    <a:rPr lang="ar-AE" sz="2399" i="1"/>
                                    <m:t>𝑟</m:t>
                                  </m:r>
                                </m:e>
                                <m:sub>
                                  <m:r>
                                    <a:rPr lang="ar-AE" sz="2399" i="1"/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ar-AE" sz="2399" dirty="0"/>
              </a:p>
              <a:p>
                <a:r>
                  <a:rPr lang="en-GB" sz="2399" dirty="0"/>
                  <a:t>For an 8-bit image: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399"/>
                          </m:ctrlPr>
                        </m:sSubPr>
                        <m:e>
                          <m:r>
                            <a:rPr lang="ar-AE" sz="2399" i="1"/>
                            <m:t>𝑠</m:t>
                          </m:r>
                        </m:e>
                        <m:sub>
                          <m:r>
                            <a:rPr lang="ar-AE" sz="2399" i="1"/>
                            <m:t>𝑘</m:t>
                          </m:r>
                        </m:sub>
                      </m:sSub>
                      <m:r>
                        <a:rPr lang="ar-AE" sz="2399"/>
                        <m:t>=</m:t>
                      </m:r>
                      <m:r>
                        <a:rPr lang="ar-AE" sz="2399" i="1"/>
                        <m:t>𝑟𝑜𝑢𝑛𝑑</m:t>
                      </m:r>
                      <m:d>
                        <m:dPr>
                          <m:ctrlPr>
                            <a:rPr lang="ar-AE" sz="2399" i="1"/>
                          </m:ctrlPr>
                        </m:dPr>
                        <m:e>
                          <m:r>
                            <a:rPr lang="ar-AE" sz="2399"/>
                            <m:t>255</m:t>
                          </m:r>
                          <m:r>
                            <a:rPr lang="ar-AE" sz="2399"/>
                            <m:t>×</m:t>
                          </m:r>
                          <m:r>
                            <a:rPr lang="ar-AE" sz="2399" i="1"/>
                            <m:t>𝐶𝐷𝐹</m:t>
                          </m:r>
                          <m:d>
                            <m:dPr>
                              <m:ctrlPr>
                                <a:rPr lang="ar-AE" sz="2399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399" i="1"/>
                                  </m:ctrlPr>
                                </m:sSubPr>
                                <m:e>
                                  <m:r>
                                    <a:rPr lang="ar-AE" sz="2399" i="1"/>
                                    <m:t>𝑟</m:t>
                                  </m:r>
                                </m:e>
                                <m:sub>
                                  <m:r>
                                    <a:rPr lang="ar-AE" sz="2399" i="1"/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ar-AE" sz="2399" dirty="0"/>
              </a:p>
              <a:p>
                <a:endParaRPr lang="en-GB" sz="2399" dirty="0"/>
              </a:p>
              <a:p>
                <a:r>
                  <a:rPr lang="en-GB" sz="2399" b="1" dirty="0"/>
                  <a:t>What the Lookup Table Does</a:t>
                </a:r>
              </a:p>
              <a:p>
                <a:r>
                  <a:rPr lang="en-GB" sz="2399" dirty="0"/>
                  <a:t>Maps old pixel values to new pixel values </a:t>
                </a:r>
              </a:p>
              <a:p>
                <a:r>
                  <a:rPr lang="en-GB" sz="2399" dirty="0"/>
                  <a:t>Avoids recalculating the formula for every pixel </a:t>
                </a:r>
              </a:p>
              <a:p>
                <a:r>
                  <a:rPr lang="en-GB" sz="2399" dirty="0"/>
                  <a:t>Makes image enhancement fast and efficient</a:t>
                </a:r>
              </a:p>
              <a:p>
                <a:endParaRPr lang="en-GB" sz="1799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DAABBA-0F08-ADFC-D1DB-3967105E6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80" y="1597502"/>
                <a:ext cx="5677426" cy="4895065"/>
              </a:xfrm>
              <a:prstGeom prst="rect">
                <a:avLst/>
              </a:prstGeom>
              <a:blipFill>
                <a:blip r:embed="rId3"/>
                <a:stretch>
                  <a:fillRect l="-1719" t="-996" r="-2685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8F7AB71-AD3B-77AF-4C29-593933C4B1B7}"/>
              </a:ext>
            </a:extLst>
          </p:cNvPr>
          <p:cNvSpPr txBox="1"/>
          <p:nvPr/>
        </p:nvSpPr>
        <p:spPr>
          <a:xfrm>
            <a:off x="6435218" y="4551388"/>
            <a:ext cx="5412801" cy="166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u="sng" dirty="0"/>
              <a:t>Key Idea: The lookup table acts like a brightness translation table for the whole image.</a:t>
            </a:r>
          </a:p>
          <a:p>
            <a:endParaRPr lang="en-MT" sz="1799" dirty="0"/>
          </a:p>
        </p:txBody>
      </p:sp>
      <p:pic>
        <p:nvPicPr>
          <p:cNvPr id="11" name="Picture 10" descr="Unlocking Image Enhancement: A Guide to Histogram Processing and Equalization with OpenCV | by NguyenKhanhSon | Medium">
            <a:extLst>
              <a:ext uri="{FF2B5EF4-FFF2-40B4-BE49-F238E27FC236}">
                <a16:creationId xmlns:a16="http://schemas.microsoft.com/office/drawing/2014/main" id="{040B8AE9-ADB3-B910-8F70-AADDC3393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493" y="1411083"/>
            <a:ext cx="4971758" cy="31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8BE3-EEC4-B4D1-AAC8-DBA3B27E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890621EB-10B2-156D-FC2B-4165FC7F5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080" y="457974"/>
            <a:ext cx="11171451" cy="1139528"/>
          </a:xfrm>
        </p:spPr>
        <p:txBody>
          <a:bodyPr anchor="t">
            <a:normAutofit/>
          </a:bodyPr>
          <a:lstStyle/>
          <a:p>
            <a:r>
              <a:rPr lang="en-GB" sz="4399" b="1" dirty="0">
                <a:solidFill>
                  <a:schemeClr val="tx2">
                    <a:lumMod val="75000"/>
                  </a:schemeClr>
                </a:solidFill>
              </a:rPr>
              <a:t>Worked Numerical Example</a:t>
            </a:r>
            <a:endParaRPr lang="en-US" sz="4399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FAE2FE-66DC-724E-E8DC-880262C83744}"/>
              </a:ext>
            </a:extLst>
          </p:cNvPr>
          <p:cNvSpPr txBox="1"/>
          <p:nvPr/>
        </p:nvSpPr>
        <p:spPr>
          <a:xfrm>
            <a:off x="353867" y="1312327"/>
            <a:ext cx="11274663" cy="120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9" dirty="0"/>
              <a:t>Assume a small 4×4 image with only three brightness values:</a:t>
            </a:r>
          </a:p>
          <a:p>
            <a:r>
              <a:rPr lang="en-GB" sz="2399" dirty="0"/>
              <a:t>10 appears 4 times , 50 appears 6 times, 80 appears 6 times, So total pixels=16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endParaRPr lang="en-MT" sz="2399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2E2B0-40A2-B849-A3F4-B3E0920B46C6}"/>
                  </a:ext>
                </a:extLst>
              </p:cNvPr>
              <p:cNvSpPr txBox="1"/>
              <p:nvPr/>
            </p:nvSpPr>
            <p:spPr>
              <a:xfrm>
                <a:off x="409539" y="2349072"/>
                <a:ext cx="5917480" cy="4421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799" b="1" dirty="0"/>
                  <a:t>Step 1 — Normalise the Histogram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799" i="1"/>
                        <m:t>𝑝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10</m:t>
                          </m:r>
                        </m:e>
                      </m:d>
                      <m:r>
                        <a:rPr lang="ar-AE" sz="1799"/>
                        <m:t>=</m:t>
                      </m:r>
                      <m:f>
                        <m:fPr>
                          <m:ctrlPr>
                            <a:rPr lang="ar-AE" sz="1799" i="1"/>
                          </m:ctrlPr>
                        </m:fPr>
                        <m:num>
                          <m:r>
                            <a:rPr lang="ar-AE" sz="1799"/>
                            <m:t>4</m:t>
                          </m:r>
                        </m:num>
                        <m:den>
                          <m:r>
                            <a:rPr lang="ar-AE" sz="1799"/>
                            <m:t>16</m:t>
                          </m:r>
                        </m:den>
                      </m:f>
                      <m:r>
                        <a:rPr lang="ar-AE" sz="1799"/>
                        <m:t>=</m:t>
                      </m:r>
                      <m:r>
                        <a:rPr lang="ar-AE" sz="1799"/>
                        <m:t>0</m:t>
                      </m:r>
                      <m:r>
                        <a:rPr lang="ar-AE" sz="1799"/>
                        <m:t>.</m:t>
                      </m:r>
                      <m:r>
                        <a:rPr lang="ar-AE" sz="1799"/>
                        <m:t>25</m:t>
                      </m:r>
                    </m:oMath>
                  </m:oMathPara>
                </a14:m>
                <a:endParaRPr lang="ar-AE" sz="1799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799" i="1"/>
                        <m:t>𝑝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50</m:t>
                          </m:r>
                        </m:e>
                      </m:d>
                      <m:r>
                        <a:rPr lang="ar-AE" sz="1799"/>
                        <m:t>=</m:t>
                      </m:r>
                      <m:f>
                        <m:fPr>
                          <m:ctrlPr>
                            <a:rPr lang="ar-AE" sz="1799" i="1"/>
                          </m:ctrlPr>
                        </m:fPr>
                        <m:num>
                          <m:r>
                            <a:rPr lang="ar-AE" sz="1799"/>
                            <m:t>6</m:t>
                          </m:r>
                        </m:num>
                        <m:den>
                          <m:r>
                            <a:rPr lang="ar-AE" sz="1799"/>
                            <m:t>16</m:t>
                          </m:r>
                        </m:den>
                      </m:f>
                      <m:r>
                        <a:rPr lang="ar-AE" sz="1799"/>
                        <m:t>=</m:t>
                      </m:r>
                      <m:r>
                        <a:rPr lang="ar-AE" sz="1799"/>
                        <m:t>0</m:t>
                      </m:r>
                      <m:r>
                        <a:rPr lang="ar-AE" sz="1799"/>
                        <m:t>.</m:t>
                      </m:r>
                      <m:r>
                        <a:rPr lang="ar-AE" sz="1799"/>
                        <m:t>375</m:t>
                      </m:r>
                    </m:oMath>
                  </m:oMathPara>
                </a14:m>
                <a:endParaRPr lang="ar-AE" sz="1799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799" i="1"/>
                        <m:t>𝑝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80</m:t>
                          </m:r>
                        </m:e>
                      </m:d>
                      <m:r>
                        <a:rPr lang="ar-AE" sz="1799"/>
                        <m:t>=</m:t>
                      </m:r>
                      <m:f>
                        <m:fPr>
                          <m:ctrlPr>
                            <a:rPr lang="ar-AE" sz="1799" i="1"/>
                          </m:ctrlPr>
                        </m:fPr>
                        <m:num>
                          <m:r>
                            <a:rPr lang="ar-AE" sz="1799"/>
                            <m:t>6</m:t>
                          </m:r>
                        </m:num>
                        <m:den>
                          <m:r>
                            <a:rPr lang="ar-AE" sz="1799"/>
                            <m:t>16</m:t>
                          </m:r>
                        </m:den>
                      </m:f>
                      <m:r>
                        <a:rPr lang="ar-AE" sz="1799"/>
                        <m:t>=</m:t>
                      </m:r>
                      <m:r>
                        <a:rPr lang="ar-AE" sz="1799"/>
                        <m:t>0</m:t>
                      </m:r>
                      <m:r>
                        <a:rPr lang="ar-AE" sz="1799"/>
                        <m:t>.</m:t>
                      </m:r>
                      <m:r>
                        <a:rPr lang="ar-AE" sz="1799"/>
                        <m:t>375</m:t>
                      </m:r>
                    </m:oMath>
                  </m:oMathPara>
                </a14:m>
                <a:endParaRPr lang="ar-AE" sz="1799" dirty="0"/>
              </a:p>
              <a:p>
                <a:r>
                  <a:rPr lang="en-GB" sz="1799" b="1" dirty="0"/>
                  <a:t>Step 2 — Compute the CDF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799" i="1"/>
                        <m:t>𝐶𝐷𝐹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10</m:t>
                          </m:r>
                        </m:e>
                      </m:d>
                      <m:r>
                        <a:rPr lang="ar-AE" sz="1799"/>
                        <m:t>=</m:t>
                      </m:r>
                      <m:r>
                        <a:rPr lang="ar-AE" sz="1799"/>
                        <m:t>0</m:t>
                      </m:r>
                      <m:r>
                        <a:rPr lang="ar-AE" sz="1799"/>
                        <m:t>.</m:t>
                      </m:r>
                      <m:r>
                        <a:rPr lang="ar-AE" sz="1799"/>
                        <m:t>25</m:t>
                      </m:r>
                    </m:oMath>
                  </m:oMathPara>
                </a14:m>
                <a:endParaRPr lang="ar-AE" sz="1799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799" i="1"/>
                        <m:t>𝐶𝐷𝐹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50</m:t>
                          </m:r>
                        </m:e>
                      </m:d>
                      <m:r>
                        <a:rPr lang="ar-AE" sz="1799"/>
                        <m:t>=</m:t>
                      </m:r>
                      <m:r>
                        <a:rPr lang="ar-AE" sz="1799"/>
                        <m:t>0</m:t>
                      </m:r>
                      <m:r>
                        <a:rPr lang="ar-AE" sz="1799"/>
                        <m:t>.</m:t>
                      </m:r>
                      <m:r>
                        <a:rPr lang="ar-AE" sz="1799"/>
                        <m:t>625</m:t>
                      </m:r>
                    </m:oMath>
                  </m:oMathPara>
                </a14:m>
                <a:endParaRPr lang="ar-AE" sz="1799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799" i="1"/>
                        <m:t>𝐶𝐷𝐹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80</m:t>
                          </m:r>
                        </m:e>
                      </m:d>
                      <m:r>
                        <a:rPr lang="ar-AE" sz="1799"/>
                        <m:t>=</m:t>
                      </m:r>
                      <m:r>
                        <a:rPr lang="ar-AE" sz="1799"/>
                        <m:t>1</m:t>
                      </m:r>
                      <m:r>
                        <a:rPr lang="ar-AE" sz="1799"/>
                        <m:t>.</m:t>
                      </m:r>
                      <m:r>
                        <a:rPr lang="ar-AE" sz="1799"/>
                        <m:t>0</m:t>
                      </m:r>
                    </m:oMath>
                  </m:oMathPara>
                </a14:m>
                <a:endParaRPr lang="ar-AE" sz="1799" dirty="0"/>
              </a:p>
              <a:p>
                <a:r>
                  <a:rPr lang="en-GB" sz="1799" b="1" dirty="0"/>
                  <a:t>Step 3 — Build the Lookup Table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799" i="1"/>
                        <m:t>𝑇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10</m:t>
                          </m:r>
                        </m:e>
                      </m:d>
                      <m:r>
                        <a:rPr lang="ar-AE" sz="1799"/>
                        <m:t>=</m:t>
                      </m:r>
                      <m:r>
                        <a:rPr lang="ar-AE" sz="1799"/>
                        <m:t>64</m:t>
                      </m:r>
                    </m:oMath>
                  </m:oMathPara>
                </a14:m>
                <a:endParaRPr lang="ar-AE" sz="1799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799" i="1"/>
                        <m:t>𝑇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50</m:t>
                          </m:r>
                        </m:e>
                      </m:d>
                      <m:r>
                        <a:rPr lang="ar-AE" sz="1799"/>
                        <m:t>=</m:t>
                      </m:r>
                      <m:r>
                        <a:rPr lang="ar-AE" sz="1799"/>
                        <m:t>159</m:t>
                      </m:r>
                    </m:oMath>
                  </m:oMathPara>
                </a14:m>
                <a:endParaRPr lang="ar-AE" sz="1799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799" i="1"/>
                        <m:t>𝑇</m:t>
                      </m:r>
                      <m:d>
                        <m:dPr>
                          <m:ctrlPr>
                            <a:rPr lang="ar-AE" sz="1799" i="1"/>
                          </m:ctrlPr>
                        </m:dPr>
                        <m:e>
                          <m:r>
                            <a:rPr lang="ar-AE" sz="1799"/>
                            <m:t>80</m:t>
                          </m:r>
                        </m:e>
                      </m:d>
                      <m:r>
                        <a:rPr lang="ar-AE" sz="1799"/>
                        <m:t>=</m:t>
                      </m:r>
                      <m:r>
                        <a:rPr lang="ar-AE" sz="1799"/>
                        <m:t>255</m:t>
                      </m:r>
                    </m:oMath>
                  </m:oMathPara>
                </a14:m>
                <a:endParaRPr lang="ar-AE" sz="1799" dirty="0"/>
              </a:p>
              <a:p>
                <a:endParaRPr lang="en-MT" sz="1799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2E2B0-40A2-B849-A3F4-B3E0920B4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39" y="2349072"/>
                <a:ext cx="5917480" cy="4421341"/>
              </a:xfrm>
              <a:prstGeom prst="rect">
                <a:avLst/>
              </a:prstGeom>
              <a:blipFill>
                <a:blip r:embed="rId3"/>
                <a:stretch>
                  <a:fillRect l="-721" t="-413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7C7E3CC-CF53-7742-5608-CEBE9AAF965C}"/>
              </a:ext>
            </a:extLst>
          </p:cNvPr>
          <p:cNvSpPr txBox="1"/>
          <p:nvPr/>
        </p:nvSpPr>
        <p:spPr>
          <a:xfrm>
            <a:off x="4715150" y="2280751"/>
            <a:ext cx="7281219" cy="1476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99" b="1" dirty="0"/>
              <a:t>Final Result: </a:t>
            </a:r>
            <a:r>
              <a:rPr lang="en-GB" sz="1799" dirty="0"/>
              <a:t>The image now spans a much wider brightness range. </a:t>
            </a:r>
          </a:p>
          <a:p>
            <a:r>
              <a:rPr lang="en-GB" sz="1799" dirty="0"/>
              <a:t>Contrast is improved because the intensity values are more spread out. </a:t>
            </a:r>
          </a:p>
          <a:p>
            <a:r>
              <a:rPr lang="en-GB" sz="1799" b="1" dirty="0"/>
              <a:t>Key Takeaway: </a:t>
            </a:r>
            <a:r>
              <a:rPr lang="en-GB" sz="1799" dirty="0"/>
              <a:t>Histogram equalisation can be summarised in three steps:</a:t>
            </a:r>
          </a:p>
          <a:p>
            <a:r>
              <a:rPr lang="en-GB" sz="1799" dirty="0"/>
              <a:t>Count, Accumulate, Scale</a:t>
            </a:r>
          </a:p>
          <a:p>
            <a:endParaRPr lang="en-MT" sz="1799" dirty="0"/>
          </a:p>
        </p:txBody>
      </p:sp>
      <p:pic>
        <p:nvPicPr>
          <p:cNvPr id="6" name="Picture 5" descr="Quick Guide to Histogram Equalization for Clearer Images">
            <a:extLst>
              <a:ext uri="{FF2B5EF4-FFF2-40B4-BE49-F238E27FC236}">
                <a16:creationId xmlns:a16="http://schemas.microsoft.com/office/drawing/2014/main" id="{C1771E9F-C1C1-B260-9F4E-0BB3F3C27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735" y="3549088"/>
            <a:ext cx="7925181" cy="254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6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29" y="549390"/>
            <a:ext cx="10360501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HE Works</a:t>
            </a:r>
            <a:endParaRPr lang="en-US" sz="3732" dirty="0"/>
          </a:p>
        </p:txBody>
      </p:sp>
      <p:sp>
        <p:nvSpPr>
          <p:cNvPr id="4" name="Shape 2"/>
          <p:cNvSpPr/>
          <p:nvPr/>
        </p:nvSpPr>
        <p:spPr>
          <a:xfrm>
            <a:off x="731329" y="1402608"/>
            <a:ext cx="1096994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5" name="Text 3"/>
          <p:cNvSpPr/>
          <p:nvPr/>
        </p:nvSpPr>
        <p:spPr>
          <a:xfrm>
            <a:off x="731329" y="1829217"/>
            <a:ext cx="5484971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a uniformly dark or flat image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329" y="2560546"/>
            <a:ext cx="5484971" cy="2437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086" indent="-457086">
              <a:spcAft>
                <a:spcPts val="1066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 scenes, underexposed portraits</a:t>
            </a:r>
            <a:endParaRPr lang="en-US" sz="1733" dirty="0"/>
          </a:p>
          <a:p>
            <a:pPr marL="457086" indent="-457086">
              <a:spcAft>
                <a:spcPts val="1066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bunched in one zone</a:t>
            </a:r>
            <a:endParaRPr lang="en-US" sz="1733" dirty="0"/>
          </a:p>
          <a:p>
            <a:pPr marL="457086" indent="-457086">
              <a:spcAft>
                <a:spcPts val="1066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spikes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6460077" y="1829217"/>
            <a:ext cx="536308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before → after HE</a:t>
            </a:r>
            <a:endParaRPr lang="en-US" sz="1466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338189" y="2255825"/>
          <a:ext cx="5484971" cy="3778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31329" y="6400026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uniformly dull images, HE is very effective.</a:t>
            </a:r>
            <a:endParaRPr lang="en-US" sz="186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29" y="549390"/>
            <a:ext cx="10360501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Case: Bimodal Histograms</a:t>
            </a:r>
            <a:endParaRPr lang="en-US" sz="3732" dirty="0"/>
          </a:p>
        </p:txBody>
      </p:sp>
      <p:sp>
        <p:nvSpPr>
          <p:cNvPr id="4" name="Shape 2"/>
          <p:cNvSpPr/>
          <p:nvPr/>
        </p:nvSpPr>
        <p:spPr>
          <a:xfrm>
            <a:off x="731329" y="1402608"/>
            <a:ext cx="1096994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5" name="Text 3"/>
          <p:cNvSpPr/>
          <p:nvPr/>
        </p:nvSpPr>
        <p:spPr>
          <a:xfrm>
            <a:off x="731329" y="1768273"/>
            <a:ext cx="10969943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concert photo — dark crowd around 30, bright LEDs near 250.</a:t>
            </a:r>
            <a:endParaRPr lang="en-US" sz="1866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329" y="2438658"/>
          <a:ext cx="10848054" cy="2803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31329" y="5424920"/>
            <a:ext cx="10969943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2133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becomes visible — dark cluster stretched.    </a:t>
            </a:r>
            <a:endParaRPr lang="en-US" sz="2133" dirty="0"/>
          </a:p>
          <a:p>
            <a:pPr>
              <a:spcAft>
                <a:spcPts val="533"/>
              </a:spcAft>
            </a:pPr>
            <a:r>
              <a:rPr lang="en-US" sz="2133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blow out to white — noise amplified.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731329" y="6400026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treats the whole image as one. That's the problem.</a:t>
            </a:r>
            <a:endParaRPr lang="en-US" sz="186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29" y="549390"/>
            <a:ext cx="10360501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Cases Where HE Breaks</a:t>
            </a:r>
            <a:endParaRPr lang="en-US" sz="3732" dirty="0"/>
          </a:p>
        </p:txBody>
      </p:sp>
      <p:sp>
        <p:nvSpPr>
          <p:cNvPr id="4" name="Shape 2"/>
          <p:cNvSpPr/>
          <p:nvPr/>
        </p:nvSpPr>
        <p:spPr>
          <a:xfrm>
            <a:off x="731329" y="1402608"/>
            <a:ext cx="1096994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5" name="Text 3"/>
          <p:cNvSpPr/>
          <p:nvPr/>
        </p:nvSpPr>
        <p:spPr>
          <a:xfrm>
            <a:off x="731329" y="1829217"/>
            <a:ext cx="1096994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high-contrast images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 overshoots — clipping and artefacts.</a:t>
            </a:r>
            <a:endParaRPr lang="en-US" sz="1866" dirty="0"/>
          </a:p>
        </p:txBody>
      </p:sp>
      <p:sp>
        <p:nvSpPr>
          <p:cNvPr id="6" name="Shape 4"/>
          <p:cNvSpPr/>
          <p:nvPr/>
        </p:nvSpPr>
        <p:spPr>
          <a:xfrm>
            <a:off x="731329" y="2438658"/>
            <a:ext cx="1096994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7" name="Text 5"/>
          <p:cNvSpPr/>
          <p:nvPr/>
        </p:nvSpPr>
        <p:spPr>
          <a:xfrm>
            <a:off x="731329" y="2865267"/>
            <a:ext cx="1096994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&amp; scientific imaging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Subtle diagnostic gradients get crushed.</a:t>
            </a:r>
            <a:endParaRPr lang="en-US" sz="1866" dirty="0"/>
          </a:p>
        </p:txBody>
      </p:sp>
      <p:sp>
        <p:nvSpPr>
          <p:cNvPr id="8" name="Shape 6"/>
          <p:cNvSpPr/>
          <p:nvPr/>
        </p:nvSpPr>
        <p:spPr>
          <a:xfrm>
            <a:off x="731329" y="3474708"/>
            <a:ext cx="1096994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9" name="Text 7"/>
          <p:cNvSpPr/>
          <p:nvPr/>
        </p:nvSpPr>
        <p:spPr>
          <a:xfrm>
            <a:off x="731329" y="3901317"/>
            <a:ext cx="1096994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uniform regions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Sky or walls develop patchy banding.</a:t>
            </a:r>
            <a:endParaRPr lang="en-US" sz="1866" dirty="0"/>
          </a:p>
        </p:txBody>
      </p:sp>
      <p:sp>
        <p:nvSpPr>
          <p:cNvPr id="10" name="Shape 8"/>
          <p:cNvSpPr/>
          <p:nvPr/>
        </p:nvSpPr>
        <p:spPr>
          <a:xfrm>
            <a:off x="731329" y="4510758"/>
            <a:ext cx="1096994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11" name="Text 9"/>
          <p:cNvSpPr/>
          <p:nvPr/>
        </p:nvSpPr>
        <p:spPr>
          <a:xfrm>
            <a:off x="731329" y="4937367"/>
            <a:ext cx="1096994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varying scenes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Global statistics don't fit local regions.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31329" y="6400026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Equalising a good image breaks it.</a:t>
            </a:r>
            <a:endParaRPr lang="en-US" sz="186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29" y="549390"/>
            <a:ext cx="10360501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NOT to Use HE</a:t>
            </a:r>
            <a:endParaRPr lang="en-US" sz="3732" dirty="0"/>
          </a:p>
        </p:txBody>
      </p:sp>
      <p:sp>
        <p:nvSpPr>
          <p:cNvPr id="4" name="Shape 2"/>
          <p:cNvSpPr/>
          <p:nvPr/>
        </p:nvSpPr>
        <p:spPr>
          <a:xfrm>
            <a:off x="731329" y="1402608"/>
            <a:ext cx="1096994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5" name="Text 3"/>
          <p:cNvSpPr/>
          <p:nvPr/>
        </p:nvSpPr>
        <p:spPr>
          <a:xfrm>
            <a:off x="731329" y="1829217"/>
            <a:ext cx="5484971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HE when…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731329" y="2438658"/>
            <a:ext cx="5484971" cy="3412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already well-exposed</a:t>
            </a:r>
            <a:endParaRPr lang="en-US" sz="1733" dirty="0"/>
          </a:p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gradient detail matters (medical, scientific)</a:t>
            </a:r>
            <a:endParaRPr lang="en-US" sz="1733" dirty="0"/>
          </a:p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uniform regions dominate the frame</a:t>
            </a:r>
            <a:endParaRPr lang="en-US" sz="1733" dirty="0"/>
          </a:p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varies strongly across the image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4412" y="1829217"/>
            <a:ext cx="0" cy="4022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8" name="Text 6"/>
          <p:cNvSpPr/>
          <p:nvPr/>
        </p:nvSpPr>
        <p:spPr>
          <a:xfrm>
            <a:off x="6338189" y="1829217"/>
            <a:ext cx="5484971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instead…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6338189" y="2438658"/>
            <a:ext cx="5484971" cy="3412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adaptive, tile-based</a:t>
            </a:r>
            <a:endParaRPr lang="en-US" sz="1733" dirty="0"/>
          </a:p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correction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manual brightness curve</a:t>
            </a:r>
            <a:endParaRPr lang="en-US" sz="1733" dirty="0"/>
          </a:p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stretching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gentler linear remap</a:t>
            </a:r>
            <a:endParaRPr lang="en-US" sz="1733" dirty="0"/>
          </a:p>
          <a:p>
            <a:pPr marL="457086" indent="-457086">
              <a:spcAft>
                <a:spcPts val="1333"/>
              </a:spcAft>
              <a:buSzPct val="100000"/>
              <a:buChar char="•"/>
            </a:pPr>
            <a:r>
              <a:rPr lang="en-US" sz="1733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mapping</a:t>
            </a:r>
            <a:r>
              <a:rPr lang="en-US" sz="1733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HDR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731329" y="6400026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is a blunt tool. Sometimes you need a scalpel.</a:t>
            </a:r>
            <a:endParaRPr lang="en-US" sz="186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29" y="549390"/>
            <a:ext cx="10360501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CLAHE: The Adaptive Fix</a:t>
            </a:r>
            <a:endParaRPr lang="en-US" sz="3732" dirty="0"/>
          </a:p>
        </p:txBody>
      </p:sp>
      <p:sp>
        <p:nvSpPr>
          <p:cNvPr id="4" name="Shape 2"/>
          <p:cNvSpPr/>
          <p:nvPr/>
        </p:nvSpPr>
        <p:spPr>
          <a:xfrm>
            <a:off x="731329" y="1402608"/>
            <a:ext cx="1096994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sz="2399"/>
          </a:p>
        </p:txBody>
      </p:sp>
      <p:sp>
        <p:nvSpPr>
          <p:cNvPr id="5" name="Text 3"/>
          <p:cNvSpPr/>
          <p:nvPr/>
        </p:nvSpPr>
        <p:spPr>
          <a:xfrm>
            <a:off x="731329" y="1707328"/>
            <a:ext cx="10969943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 Histogram Equalisation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731329" y="2560546"/>
            <a:ext cx="853218" cy="10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2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332" dirty="0"/>
          </a:p>
        </p:txBody>
      </p:sp>
      <p:sp>
        <p:nvSpPr>
          <p:cNvPr id="7" name="Text 5"/>
          <p:cNvSpPr/>
          <p:nvPr/>
        </p:nvSpPr>
        <p:spPr>
          <a:xfrm>
            <a:off x="1706435" y="2560546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 into tiles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1706435" y="3048099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image into small non-overlapping blocks, typically 8×8.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329" y="3718485"/>
            <a:ext cx="853218" cy="10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2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332" dirty="0"/>
          </a:p>
        </p:txBody>
      </p:sp>
      <p:sp>
        <p:nvSpPr>
          <p:cNvPr id="10" name="Text 8"/>
          <p:cNvSpPr/>
          <p:nvPr/>
        </p:nvSpPr>
        <p:spPr>
          <a:xfrm>
            <a:off x="1706435" y="3718485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Equalise each tile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1706435" y="4206038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histogram equalisation independently inside every tile.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329" y="4876423"/>
            <a:ext cx="853218" cy="10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2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332" dirty="0"/>
          </a:p>
        </p:txBody>
      </p:sp>
      <p:sp>
        <p:nvSpPr>
          <p:cNvPr id="13" name="Text 11"/>
          <p:cNvSpPr/>
          <p:nvPr/>
        </p:nvSpPr>
        <p:spPr>
          <a:xfrm>
            <a:off x="1706435" y="4876423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 the seams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1706435" y="5363976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interpolation at the borders prevents blocky artefacts.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329" y="6400026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CLAHE thinks locally, not globally.</a:t>
            </a:r>
            <a:endParaRPr lang="en-US" sz="186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" name="Text 1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106" y="183726"/>
            <a:ext cx="9751060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2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Clip Limit</a:t>
            </a:r>
            <a:endParaRPr lang="en-US" sz="4532" dirty="0"/>
          </a:p>
        </p:txBody>
      </p:sp>
      <p:sp>
        <p:nvSpPr>
          <p:cNvPr id="5" name="Shape 3"/>
          <p:cNvSpPr/>
          <p:nvPr/>
        </p:nvSpPr>
        <p:spPr>
          <a:xfrm>
            <a:off x="609441" y="1097887"/>
            <a:ext cx="5119307" cy="2559653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6" name="Shape 4"/>
          <p:cNvSpPr/>
          <p:nvPr/>
        </p:nvSpPr>
        <p:spPr>
          <a:xfrm>
            <a:off x="609441" y="1097887"/>
            <a:ext cx="85322" cy="255965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7" name="Text 5"/>
          <p:cNvSpPr/>
          <p:nvPr/>
        </p:nvSpPr>
        <p:spPr>
          <a:xfrm>
            <a:off x="914161" y="1158831"/>
            <a:ext cx="4631754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914161" y="1585440"/>
            <a:ext cx="4631754" cy="188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33"/>
              </a:spcAft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tiles have noisy histograms.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equalise them, noise gets amplified along with the real signal.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grainy, over-enhanced patches — especially in smooth regions like sky or skin.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60077" y="1097887"/>
            <a:ext cx="5119307" cy="2559653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0" name="Shape 8"/>
          <p:cNvSpPr/>
          <p:nvPr/>
        </p:nvSpPr>
        <p:spPr>
          <a:xfrm>
            <a:off x="6460077" y="1097887"/>
            <a:ext cx="85322" cy="255965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1" name="Text 9"/>
          <p:cNvSpPr/>
          <p:nvPr/>
        </p:nvSpPr>
        <p:spPr>
          <a:xfrm>
            <a:off x="6764797" y="1158831"/>
            <a:ext cx="4631754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 Clip Limit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6764797" y="1585440"/>
            <a:ext cx="4631754" cy="188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33"/>
              </a:spcAft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computing the CDF, cap every histogram bin at a threshold β.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counts above β are collected as "excess" and redistributed evenly across all 256 bins.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flattens the CDF slope → limits the maximum contrast amplification any pixel can receive.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default: clipLimit = 2.0 (often called "clip factor" in papers).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441" y="3962261"/>
            <a:ext cx="10969943" cy="1218883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4" name="Shape 12"/>
          <p:cNvSpPr/>
          <p:nvPr/>
        </p:nvSpPr>
        <p:spPr>
          <a:xfrm>
            <a:off x="792273" y="4084149"/>
            <a:ext cx="1828324" cy="975106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5" name="Text 13"/>
          <p:cNvSpPr/>
          <p:nvPr/>
        </p:nvSpPr>
        <p:spPr>
          <a:xfrm>
            <a:off x="792273" y="4084149"/>
            <a:ext cx="1828324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histogram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333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163" y="4388870"/>
            <a:ext cx="243777" cy="243777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986262" y="4084149"/>
            <a:ext cx="1828324" cy="975106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8" name="Text 15"/>
          <p:cNvSpPr/>
          <p:nvPr/>
        </p:nvSpPr>
        <p:spPr>
          <a:xfrm>
            <a:off x="2986262" y="4084149"/>
            <a:ext cx="1828324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at β</a:t>
            </a:r>
            <a:endParaRPr lang="en-US" sz="1333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152" y="4388870"/>
            <a:ext cx="243777" cy="24377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180250" y="4084149"/>
            <a:ext cx="1828324" cy="975106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21" name="Text 17"/>
          <p:cNvSpPr/>
          <p:nvPr/>
        </p:nvSpPr>
        <p:spPr>
          <a:xfrm>
            <a:off x="5180250" y="4084149"/>
            <a:ext cx="1828324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</a:t>
            </a:r>
            <a:endParaRPr lang="en-US" sz="1333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140" y="4388870"/>
            <a:ext cx="243777" cy="243777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74239" y="4084149"/>
            <a:ext cx="1828324" cy="975106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24" name="Text 19"/>
          <p:cNvSpPr/>
          <p:nvPr/>
        </p:nvSpPr>
        <p:spPr>
          <a:xfrm>
            <a:off x="7374239" y="4084149"/>
            <a:ext cx="1828324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CDF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(limited slope)</a:t>
            </a:r>
            <a:endParaRPr lang="en-US" sz="1333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29" y="4388870"/>
            <a:ext cx="243777" cy="243777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568227" y="4084149"/>
            <a:ext cx="1828324" cy="975106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27" name="Text 21"/>
          <p:cNvSpPr/>
          <p:nvPr/>
        </p:nvSpPr>
        <p:spPr>
          <a:xfrm>
            <a:off x="9568227" y="4084149"/>
            <a:ext cx="1828324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Gentler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33" dirty="0"/>
          </a:p>
        </p:txBody>
      </p:sp>
      <p:sp>
        <p:nvSpPr>
          <p:cNvPr id="28" name="Text 22"/>
          <p:cNvSpPr/>
          <p:nvPr/>
        </p:nvSpPr>
        <p:spPr>
          <a:xfrm>
            <a:off x="609441" y="5363976"/>
            <a:ext cx="10969943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67"/>
              </a:spcAft>
            </a:pPr>
            <a:r>
              <a:rPr lang="en-US" sz="1466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clip limit → stronger enhancement (more contrast, more noise risk).  Lower → more conservative.</a:t>
            </a:r>
            <a:endParaRPr lang="en-US" sz="1466" dirty="0"/>
          </a:p>
          <a:p>
            <a:pPr>
              <a:spcAft>
                <a:spcPts val="267"/>
              </a:spcAft>
            </a:pPr>
            <a:r>
              <a:rPr lang="en-US" sz="1333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β = (M/N)(1 + α/100(s_max − 1)),  α = clip factor 0–100%, M = pixels in tile, N = 256.</a:t>
            </a:r>
            <a:endParaRPr lang="en-US" sz="1466" dirty="0"/>
          </a:p>
          <a:p>
            <a:pPr>
              <a:spcAft>
                <a:spcPts val="267"/>
              </a:spcAft>
            </a:pPr>
            <a:r>
              <a:rPr lang="en-US" sz="1333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→ identity (no change).  α = 100 → max slope s_max (typically 4 for X-ray).</a:t>
            </a:r>
            <a:endParaRPr lang="en-US" sz="1466" dirty="0"/>
          </a:p>
        </p:txBody>
      </p:sp>
      <p:sp>
        <p:nvSpPr>
          <p:cNvPr id="29" name="Shape 23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0" name="Text 24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clip limit controls how aggressive the enhancement is"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" name="Text 1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105" y="183726"/>
            <a:ext cx="10969943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2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tileGridSize Parameter</a:t>
            </a:r>
            <a:endParaRPr lang="en-US" sz="4532" dirty="0"/>
          </a:p>
        </p:txBody>
      </p:sp>
      <p:sp>
        <p:nvSpPr>
          <p:cNvPr id="5" name="Shape 3"/>
          <p:cNvSpPr/>
          <p:nvPr/>
        </p:nvSpPr>
        <p:spPr>
          <a:xfrm>
            <a:off x="609441" y="1158831"/>
            <a:ext cx="3534759" cy="35347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6" name="Shape 4"/>
          <p:cNvSpPr/>
          <p:nvPr/>
        </p:nvSpPr>
        <p:spPr>
          <a:xfrm>
            <a:off x="609441" y="1158831"/>
            <a:ext cx="3534759" cy="8532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7" name="Text 5"/>
          <p:cNvSpPr/>
          <p:nvPr/>
        </p:nvSpPr>
        <p:spPr>
          <a:xfrm>
            <a:off x="609441" y="1341664"/>
            <a:ext cx="3534759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× 4</a:t>
            </a:r>
            <a:endParaRPr lang="en-US" sz="2933" dirty="0"/>
          </a:p>
        </p:txBody>
      </p:sp>
      <p:sp>
        <p:nvSpPr>
          <p:cNvPr id="8" name="Text 6"/>
          <p:cNvSpPr/>
          <p:nvPr/>
        </p:nvSpPr>
        <p:spPr>
          <a:xfrm>
            <a:off x="609441" y="1829217"/>
            <a:ext cx="353475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tiles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792273" y="2194881"/>
            <a:ext cx="3169095" cy="2315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local enhancement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over-process fine detail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tiles → more histograms to compute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images with tiny structures</a:t>
            </a:r>
            <a:endParaRPr lang="en-US" sz="1466" dirty="0"/>
          </a:p>
        </p:txBody>
      </p:sp>
      <p:sp>
        <p:nvSpPr>
          <p:cNvPr id="10" name="Shape 8"/>
          <p:cNvSpPr/>
          <p:nvPr/>
        </p:nvSpPr>
        <p:spPr>
          <a:xfrm>
            <a:off x="4448921" y="1158831"/>
            <a:ext cx="3534759" cy="35347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1" name="Shape 9"/>
          <p:cNvSpPr/>
          <p:nvPr/>
        </p:nvSpPr>
        <p:spPr>
          <a:xfrm>
            <a:off x="4448921" y="1158831"/>
            <a:ext cx="3534759" cy="8532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2" name="Text 10"/>
          <p:cNvSpPr/>
          <p:nvPr/>
        </p:nvSpPr>
        <p:spPr>
          <a:xfrm>
            <a:off x="4448921" y="1341664"/>
            <a:ext cx="3534759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× 8</a:t>
            </a:r>
            <a:endParaRPr lang="en-US" sz="2933" dirty="0"/>
          </a:p>
        </p:txBody>
      </p:sp>
      <p:sp>
        <p:nvSpPr>
          <p:cNvPr id="13" name="Text 11"/>
          <p:cNvSpPr/>
          <p:nvPr/>
        </p:nvSpPr>
        <p:spPr>
          <a:xfrm>
            <a:off x="4448921" y="1829217"/>
            <a:ext cx="353475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(OpenCV)</a:t>
            </a:r>
            <a:endParaRPr lang="en-US" sz="1466" dirty="0"/>
          </a:p>
        </p:txBody>
      </p:sp>
      <p:sp>
        <p:nvSpPr>
          <p:cNvPr id="14" name="Text 12"/>
          <p:cNvSpPr/>
          <p:nvPr/>
        </p:nvSpPr>
        <p:spPr>
          <a:xfrm>
            <a:off x="4631753" y="2194881"/>
            <a:ext cx="3169095" cy="2315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regions of ~64×64 px (for 512×512)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balance: local enough to adapt, global enough to stay stable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point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most CLAHE papers</a:t>
            </a:r>
            <a:endParaRPr lang="en-US" sz="1466" dirty="0"/>
          </a:p>
        </p:txBody>
      </p:sp>
      <p:sp>
        <p:nvSpPr>
          <p:cNvPr id="15" name="Shape 13"/>
          <p:cNvSpPr/>
          <p:nvPr/>
        </p:nvSpPr>
        <p:spPr>
          <a:xfrm>
            <a:off x="8288401" y="1158831"/>
            <a:ext cx="3534759" cy="35347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6" name="Shape 14"/>
          <p:cNvSpPr/>
          <p:nvPr/>
        </p:nvSpPr>
        <p:spPr>
          <a:xfrm>
            <a:off x="8288401" y="1158831"/>
            <a:ext cx="3534759" cy="8532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7" name="Text 15"/>
          <p:cNvSpPr/>
          <p:nvPr/>
        </p:nvSpPr>
        <p:spPr>
          <a:xfrm>
            <a:off x="8288401" y="1341664"/>
            <a:ext cx="3534759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× 16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8288401" y="1829217"/>
            <a:ext cx="353475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tiles</a:t>
            </a:r>
            <a:endParaRPr lang="en-US" sz="1466" dirty="0"/>
          </a:p>
        </p:txBody>
      </p:sp>
      <p:sp>
        <p:nvSpPr>
          <p:cNvPr id="19" name="Text 17"/>
          <p:cNvSpPr/>
          <p:nvPr/>
        </p:nvSpPr>
        <p:spPr>
          <a:xfrm>
            <a:off x="8471233" y="2194881"/>
            <a:ext cx="3169095" cy="2315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global HE behaviour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local correction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regions → faster</a:t>
            </a:r>
            <a:endParaRPr lang="en-US" sz="1466" dirty="0"/>
          </a:p>
          <a:p>
            <a:pPr marL="457086" indent="-457086">
              <a:spcAft>
                <a:spcPts val="267"/>
              </a:spcAft>
              <a:buSzPct val="100000"/>
              <a:buChar char="•"/>
            </a:pPr>
            <a:r>
              <a:rPr lang="en-US" sz="1466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uniformly lit images</a:t>
            </a:r>
            <a:endParaRPr lang="en-US" sz="1466" dirty="0"/>
          </a:p>
        </p:txBody>
      </p:sp>
      <p:sp>
        <p:nvSpPr>
          <p:cNvPr id="20" name="Text 18"/>
          <p:cNvSpPr/>
          <p:nvPr/>
        </p:nvSpPr>
        <p:spPr>
          <a:xfrm>
            <a:off x="609441" y="4998311"/>
            <a:ext cx="1096994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parameters interact: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tile with a high clip limit will over-enhance; a large tile with a low clip limit barely changes anything. Always tune them together.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441" y="5546808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6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interpolation is applied at tile borders to avoid visible seams between neighbouring regions.</a:t>
            </a:r>
            <a:endParaRPr lang="en-US" sz="1466" dirty="0"/>
          </a:p>
        </p:txBody>
      </p:sp>
      <p:sp>
        <p:nvSpPr>
          <p:cNvPr id="22" name="Shape 20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23" name="Text 21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"Tile size controls how local vs global the correction is"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" name="Text 1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106" y="183726"/>
            <a:ext cx="9751060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2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CLAHE vs HE: Side by Side</a:t>
            </a:r>
            <a:endParaRPr lang="en-US" sz="4532" dirty="0"/>
          </a:p>
        </p:txBody>
      </p:sp>
      <p:sp>
        <p:nvSpPr>
          <p:cNvPr id="5" name="Shape 3"/>
          <p:cNvSpPr/>
          <p:nvPr/>
        </p:nvSpPr>
        <p:spPr>
          <a:xfrm>
            <a:off x="609441" y="1097887"/>
            <a:ext cx="5119307" cy="2254933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6" name="Shape 4"/>
          <p:cNvSpPr/>
          <p:nvPr/>
        </p:nvSpPr>
        <p:spPr>
          <a:xfrm>
            <a:off x="609441" y="1097887"/>
            <a:ext cx="85322" cy="225493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7" name="Text 5"/>
          <p:cNvSpPr/>
          <p:nvPr/>
        </p:nvSpPr>
        <p:spPr>
          <a:xfrm>
            <a:off x="914161" y="1158831"/>
            <a:ext cx="4631754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HE Result</a:t>
            </a:r>
            <a:endParaRPr lang="en-US" sz="186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05" y="1609818"/>
            <a:ext cx="243777" cy="2437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392" y="1609818"/>
            <a:ext cx="414420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Blown-out highlights (whites clip to 255)</a:t>
            </a:r>
            <a:endParaRPr lang="en-US" sz="1533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05" y="1951105"/>
            <a:ext cx="243777" cy="2437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392" y="1951105"/>
            <a:ext cx="414420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 noise in uniform regions</a:t>
            </a:r>
            <a:endParaRPr lang="en-US" sz="1533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05" y="2292392"/>
            <a:ext cx="243777" cy="2437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16392" y="2292392"/>
            <a:ext cx="414420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artefacts — whole image shifts</a:t>
            </a:r>
            <a:endParaRPr lang="en-US" sz="1533" dirty="0"/>
          </a:p>
        </p:txBody>
      </p:sp>
      <p:sp>
        <p:nvSpPr>
          <p:cNvPr id="14" name="Text 9"/>
          <p:cNvSpPr/>
          <p:nvPr/>
        </p:nvSpPr>
        <p:spPr>
          <a:xfrm>
            <a:off x="975105" y="2682434"/>
            <a:ext cx="463175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one histogram for the entire image, so local detail is lost.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60077" y="1097887"/>
            <a:ext cx="5119307" cy="2254933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6" name="Shape 11"/>
          <p:cNvSpPr/>
          <p:nvPr/>
        </p:nvSpPr>
        <p:spPr>
          <a:xfrm>
            <a:off x="6460077" y="1097887"/>
            <a:ext cx="85322" cy="225493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7" name="Text 12"/>
          <p:cNvSpPr/>
          <p:nvPr/>
        </p:nvSpPr>
        <p:spPr>
          <a:xfrm>
            <a:off x="6764797" y="1158831"/>
            <a:ext cx="4631754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CLAHE Result</a:t>
            </a:r>
            <a:endParaRPr lang="en-US" sz="1866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741" y="1609818"/>
            <a:ext cx="243777" cy="24377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67028" y="1609818"/>
            <a:ext cx="414420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highlights, no clipping</a:t>
            </a:r>
            <a:endParaRPr lang="en-US" sz="1533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741" y="1951105"/>
            <a:ext cx="243777" cy="24377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67028" y="1951105"/>
            <a:ext cx="414420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shadow recovery, no banding</a:t>
            </a:r>
            <a:endParaRPr lang="en-US" sz="1533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741" y="2292392"/>
            <a:ext cx="243777" cy="24377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67028" y="2292392"/>
            <a:ext cx="414420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controlled by clip limit</a:t>
            </a:r>
            <a:endParaRPr lang="en-US" sz="1533" dirty="0"/>
          </a:p>
        </p:txBody>
      </p:sp>
      <p:sp>
        <p:nvSpPr>
          <p:cNvPr id="24" name="Text 16"/>
          <p:cNvSpPr/>
          <p:nvPr/>
        </p:nvSpPr>
        <p:spPr>
          <a:xfrm>
            <a:off x="6825741" y="2682434"/>
            <a:ext cx="463175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tile gets its own histogram → adapts to local contrast conditions.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09441" y="3596597"/>
          <a:ext cx="10969942" cy="2340252"/>
        </p:xfrm>
        <a:graphic>
          <a:graphicData uri="http://schemas.openxmlformats.org/drawingml/2006/table">
            <a:tbl>
              <a:tblPr/>
              <a:tblGrid>
                <a:gridCol w="1950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9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image at once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by tile (e.g. 8×8 grid)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Amplifies noise everywhere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limit caps amplification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clipLimit, tileGridSize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 artefacts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(single region)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via bilinear interpolation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Uniformly flat images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/ uneven lighting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17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27" name="Text 18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 idea, smarter execution"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" name="Text 1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106" y="183726"/>
            <a:ext cx="9751060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2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4532" dirty="0"/>
          </a:p>
        </p:txBody>
      </p:sp>
      <p:sp>
        <p:nvSpPr>
          <p:cNvPr id="5" name="Shape 3"/>
          <p:cNvSpPr/>
          <p:nvPr/>
        </p:nvSpPr>
        <p:spPr>
          <a:xfrm>
            <a:off x="609441" y="1158831"/>
            <a:ext cx="5363083" cy="14626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6" name="Shape 4"/>
          <p:cNvSpPr/>
          <p:nvPr/>
        </p:nvSpPr>
        <p:spPr>
          <a:xfrm>
            <a:off x="755707" y="1378230"/>
            <a:ext cx="670385" cy="670385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95" y="1500118"/>
            <a:ext cx="426609" cy="426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4547" y="1256342"/>
            <a:ext cx="41442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Imaging</a:t>
            </a:r>
            <a:endParaRPr lang="en-US" sz="1733" dirty="0"/>
          </a:p>
        </p:txBody>
      </p:sp>
      <p:sp>
        <p:nvSpPr>
          <p:cNvPr id="9" name="Text 6"/>
          <p:cNvSpPr/>
          <p:nvPr/>
        </p:nvSpPr>
        <p:spPr>
          <a:xfrm>
            <a:off x="1584547" y="1597629"/>
            <a:ext cx="4144201" cy="95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reveals soft tissue detail in MRI/X-ray without destroying bone contrast. Used in CT-scans, mammography, retinal fundus images. Studies show improved Dice scores for spine segmentation when CLAHE is applied before U-Net.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6399133" y="1158831"/>
            <a:ext cx="5363083" cy="14626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1" name="Shape 8"/>
          <p:cNvSpPr/>
          <p:nvPr/>
        </p:nvSpPr>
        <p:spPr>
          <a:xfrm>
            <a:off x="6545399" y="1378230"/>
            <a:ext cx="670385" cy="670385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287" y="1500118"/>
            <a:ext cx="426609" cy="4266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4238" y="1256342"/>
            <a:ext cx="41442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Satellite Imagery</a:t>
            </a:r>
            <a:endParaRPr lang="en-US" sz="1733" dirty="0"/>
          </a:p>
        </p:txBody>
      </p:sp>
      <p:sp>
        <p:nvSpPr>
          <p:cNvPr id="14" name="Text 10"/>
          <p:cNvSpPr/>
          <p:nvPr/>
        </p:nvSpPr>
        <p:spPr>
          <a:xfrm>
            <a:off x="7374238" y="1597629"/>
            <a:ext cx="4144201" cy="95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ground features in hazy or low-light aerial captures. Helps distinguish terrain, vegetation, and water bodies in remote-sensing images.</a:t>
            </a:r>
            <a:endParaRPr lang="en-US" sz="1333" dirty="0"/>
          </a:p>
        </p:txBody>
      </p:sp>
      <p:sp>
        <p:nvSpPr>
          <p:cNvPr id="15" name="Shape 11"/>
          <p:cNvSpPr/>
          <p:nvPr/>
        </p:nvSpPr>
        <p:spPr>
          <a:xfrm>
            <a:off x="609441" y="2804323"/>
            <a:ext cx="5363083" cy="14626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16" name="Shape 12"/>
          <p:cNvSpPr/>
          <p:nvPr/>
        </p:nvSpPr>
        <p:spPr>
          <a:xfrm>
            <a:off x="755707" y="3023722"/>
            <a:ext cx="670385" cy="670385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95" y="3145610"/>
            <a:ext cx="426609" cy="4266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84547" y="2901833"/>
            <a:ext cx="41442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Vision / Surveillance</a:t>
            </a:r>
            <a:endParaRPr lang="en-US" sz="1733" dirty="0"/>
          </a:p>
        </p:txBody>
      </p:sp>
      <p:sp>
        <p:nvSpPr>
          <p:cNvPr id="19" name="Text 14"/>
          <p:cNvSpPr/>
          <p:nvPr/>
        </p:nvSpPr>
        <p:spPr>
          <a:xfrm>
            <a:off x="1584547" y="3243121"/>
            <a:ext cx="4144201" cy="95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dark regions without blowing out street lights or headlights. Critical for CCTV analysis and UAV imagery under low-light conditions.</a:t>
            </a:r>
            <a:endParaRPr lang="en-US" sz="1333" dirty="0"/>
          </a:p>
        </p:txBody>
      </p:sp>
      <p:sp>
        <p:nvSpPr>
          <p:cNvPr id="20" name="Shape 15"/>
          <p:cNvSpPr/>
          <p:nvPr/>
        </p:nvSpPr>
        <p:spPr>
          <a:xfrm>
            <a:off x="6399133" y="2804323"/>
            <a:ext cx="5363083" cy="14626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21" name="Shape 16"/>
          <p:cNvSpPr/>
          <p:nvPr/>
        </p:nvSpPr>
        <p:spPr>
          <a:xfrm>
            <a:off x="6545399" y="3023722"/>
            <a:ext cx="670385" cy="670385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287" y="3145610"/>
            <a:ext cx="426609" cy="4266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4238" y="2901833"/>
            <a:ext cx="41442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Detection Preprocessing</a:t>
            </a:r>
            <a:endParaRPr lang="en-US" sz="1733" dirty="0"/>
          </a:p>
        </p:txBody>
      </p:sp>
      <p:sp>
        <p:nvSpPr>
          <p:cNvPr id="24" name="Text 18"/>
          <p:cNvSpPr/>
          <p:nvPr/>
        </p:nvSpPr>
        <p:spPr>
          <a:xfrm>
            <a:off x="7374238" y="3243121"/>
            <a:ext cx="4144201" cy="95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illumination across faces shot under mixed lighting. The Musa et al. study achieved 95% face recognition accuracy using CLAHE + LBPH at 98 lux.</a:t>
            </a:r>
            <a:endParaRPr lang="en-US" sz="1333" dirty="0"/>
          </a:p>
        </p:txBody>
      </p:sp>
      <p:sp>
        <p:nvSpPr>
          <p:cNvPr id="25" name="Shape 19"/>
          <p:cNvSpPr/>
          <p:nvPr/>
        </p:nvSpPr>
        <p:spPr>
          <a:xfrm>
            <a:off x="609441" y="4449814"/>
            <a:ext cx="5363083" cy="1462659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399"/>
          </a:p>
        </p:txBody>
      </p:sp>
      <p:sp>
        <p:nvSpPr>
          <p:cNvPr id="26" name="Shape 20"/>
          <p:cNvSpPr/>
          <p:nvPr/>
        </p:nvSpPr>
        <p:spPr>
          <a:xfrm>
            <a:off x="755707" y="4669213"/>
            <a:ext cx="670385" cy="670385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95" y="4791101"/>
            <a:ext cx="426609" cy="42660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84547" y="4547325"/>
            <a:ext cx="41442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 Scanning</a:t>
            </a:r>
            <a:endParaRPr lang="en-US" sz="1733" dirty="0"/>
          </a:p>
        </p:txBody>
      </p:sp>
      <p:sp>
        <p:nvSpPr>
          <p:cNvPr id="29" name="Text 22"/>
          <p:cNvSpPr/>
          <p:nvPr/>
        </p:nvSpPr>
        <p:spPr>
          <a:xfrm>
            <a:off x="1584547" y="4888612"/>
            <a:ext cx="4144201" cy="95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ridge detail for more reliable minutiae matching. Particularly useful for latent (partial) fingerprints captured in poor conditions.</a:t>
            </a:r>
            <a:endParaRPr lang="en-US" sz="1333" dirty="0"/>
          </a:p>
        </p:txBody>
      </p:sp>
      <p:sp>
        <p:nvSpPr>
          <p:cNvPr id="30" name="Shape 23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1" name="Text 24"/>
          <p:cNvSpPr/>
          <p:nvPr/>
        </p:nvSpPr>
        <p:spPr>
          <a:xfrm>
            <a:off x="609441" y="6156249"/>
            <a:ext cx="10969943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"Anywhere lighting is uneven, CLAHE is useful"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3" name="Text 1"/>
          <p:cNvSpPr/>
          <p:nvPr/>
        </p:nvSpPr>
        <p:spPr>
          <a:xfrm>
            <a:off x="-1" y="893"/>
            <a:ext cx="731330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105" y="122781"/>
            <a:ext cx="1096994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6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Recap: The Teaching Journey</a:t>
            </a:r>
            <a:endParaRPr lang="en-US" sz="4266" dirty="0"/>
          </a:p>
        </p:txBody>
      </p:sp>
      <p:sp>
        <p:nvSpPr>
          <p:cNvPr id="5" name="Text 3"/>
          <p:cNvSpPr/>
          <p:nvPr/>
        </p:nvSpPr>
        <p:spPr>
          <a:xfrm>
            <a:off x="609441" y="854111"/>
            <a:ext cx="487553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Pipeline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441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7" name="Text 5"/>
          <p:cNvSpPr/>
          <p:nvPr/>
        </p:nvSpPr>
        <p:spPr>
          <a:xfrm>
            <a:off x="609441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589" y="1487929"/>
            <a:ext cx="170644" cy="1706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93988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0" name="Text 7"/>
          <p:cNvSpPr/>
          <p:nvPr/>
        </p:nvSpPr>
        <p:spPr>
          <a:xfrm>
            <a:off x="2193988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36" y="1487929"/>
            <a:ext cx="170644" cy="1706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78535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3" name="Text 9"/>
          <p:cNvSpPr/>
          <p:nvPr/>
        </p:nvSpPr>
        <p:spPr>
          <a:xfrm>
            <a:off x="3778535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p(r)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683" y="1487929"/>
            <a:ext cx="170644" cy="1706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363082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6" name="Text 11"/>
          <p:cNvSpPr/>
          <p:nvPr/>
        </p:nvSpPr>
        <p:spPr>
          <a:xfrm>
            <a:off x="5363082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231" y="1487929"/>
            <a:ext cx="170644" cy="1706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947630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19" name="Text 13"/>
          <p:cNvSpPr/>
          <p:nvPr/>
        </p:nvSpPr>
        <p:spPr>
          <a:xfrm>
            <a:off x="6947630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T(r)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78" y="1487929"/>
            <a:ext cx="170644" cy="17064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532177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22" name="Text 15"/>
          <p:cNvSpPr/>
          <p:nvPr/>
        </p:nvSpPr>
        <p:spPr>
          <a:xfrm>
            <a:off x="8532177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325" y="1487929"/>
            <a:ext cx="170644" cy="1706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0116724" y="1280719"/>
            <a:ext cx="1340771" cy="7313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25" name="Text 17"/>
          <p:cNvSpPr/>
          <p:nvPr/>
        </p:nvSpPr>
        <p:spPr>
          <a:xfrm>
            <a:off x="10116724" y="1280719"/>
            <a:ext cx="13407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Equalised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09441" y="2255825"/>
            <a:ext cx="487553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Formulas</a:t>
            </a:r>
            <a:endParaRPr lang="en-US" sz="1733" dirty="0"/>
          </a:p>
        </p:txBody>
      </p:sp>
      <p:sp>
        <p:nvSpPr>
          <p:cNvPr id="27" name="Shape 19"/>
          <p:cNvSpPr/>
          <p:nvPr/>
        </p:nvSpPr>
        <p:spPr>
          <a:xfrm>
            <a:off x="609441" y="2682435"/>
            <a:ext cx="10969943" cy="179175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cs-CZ" sz="2399"/>
          </a:p>
        </p:txBody>
      </p:sp>
      <p:sp>
        <p:nvSpPr>
          <p:cNvPr id="28" name="Text 20"/>
          <p:cNvSpPr/>
          <p:nvPr/>
        </p:nvSpPr>
        <p:spPr>
          <a:xfrm>
            <a:off x="853217" y="2743379"/>
            <a:ext cx="10482390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p(r) = h(r) / N               </a:t>
            </a:r>
            <a:endParaRPr lang="en-US" sz="1733" dirty="0"/>
          </a:p>
          <a:p>
            <a:r>
              <a:rPr lang="en-US" sz="1466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normalised histogram (probability of grey level r)</a:t>
            </a:r>
            <a:endParaRPr lang="en-US" sz="1733" dirty="0"/>
          </a:p>
          <a:p>
            <a:r>
              <a:rPr lang="en-US" sz="17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CDF(r) = Σ p(0..r)             </a:t>
            </a:r>
            <a:endParaRPr lang="en-US" sz="1733" dirty="0"/>
          </a:p>
          <a:p>
            <a:r>
              <a:rPr lang="en-US" sz="1466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cumulative distribution function (monotonically increasing)</a:t>
            </a:r>
            <a:endParaRPr lang="en-US" sz="1733" dirty="0"/>
          </a:p>
          <a:p>
            <a:r>
              <a:rPr lang="en-US" sz="17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T(r) = round(255 × CDF(r))  </a:t>
            </a:r>
            <a:endParaRPr lang="en-US" sz="1733" dirty="0"/>
          </a:p>
          <a:p>
            <a:r>
              <a:rPr lang="en-US" sz="1466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the look-up table that maps old grey levels to new ones</a:t>
            </a:r>
            <a:endParaRPr lang="en-US" sz="1733" dirty="0"/>
          </a:p>
        </p:txBody>
      </p:sp>
      <p:sp>
        <p:nvSpPr>
          <p:cNvPr id="29" name="Shape 21"/>
          <p:cNvSpPr/>
          <p:nvPr/>
        </p:nvSpPr>
        <p:spPr>
          <a:xfrm>
            <a:off x="609441" y="4559514"/>
            <a:ext cx="5119307" cy="1584547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73" y="4657024"/>
            <a:ext cx="304721" cy="3047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82315" y="4620458"/>
            <a:ext cx="4266089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Failure: Global HE</a:t>
            </a:r>
            <a:endParaRPr lang="en-US" sz="1733" dirty="0"/>
          </a:p>
        </p:txBody>
      </p:sp>
      <p:sp>
        <p:nvSpPr>
          <p:cNvPr id="32" name="Text 23"/>
          <p:cNvSpPr/>
          <p:nvPr/>
        </p:nvSpPr>
        <p:spPr>
          <a:xfrm>
            <a:off x="792273" y="5047067"/>
            <a:ext cx="4692698" cy="10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bimodal histograms (e.g. dark object on bright background).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Over-enhances already well-exposed images.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washed-out, unnatural results.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6460077" y="4559514"/>
            <a:ext cx="5119307" cy="1584547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cs-CZ" sz="2399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909" y="4657024"/>
            <a:ext cx="304721" cy="304721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32951" y="4620458"/>
            <a:ext cx="4266089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Fix: CLAHE</a:t>
            </a:r>
            <a:endParaRPr lang="en-US" sz="1733" dirty="0"/>
          </a:p>
        </p:txBody>
      </p:sp>
      <p:sp>
        <p:nvSpPr>
          <p:cNvPr id="36" name="Text 26"/>
          <p:cNvSpPr/>
          <p:nvPr/>
        </p:nvSpPr>
        <p:spPr>
          <a:xfrm>
            <a:off x="6642909" y="5047067"/>
            <a:ext cx="4692698" cy="10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tiles  →  adapts to each region independently.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limit  →  prevents noise amplification.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interpolation  →  smooth transitions, no tile borders.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609441" y="6156250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visual summary of the complete pipeline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E2B819-33AA-99A4-DA68-3F119106997C}"/>
              </a:ext>
            </a:extLst>
          </p:cNvPr>
          <p:cNvSpPr txBox="1"/>
          <p:nvPr/>
        </p:nvSpPr>
        <p:spPr>
          <a:xfrm>
            <a:off x="853217" y="56337"/>
            <a:ext cx="11213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Recap: The Teaching Journey</a:t>
            </a:r>
            <a:endParaRPr lang="en-US" sz="4800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2463</Words>
  <Application>Microsoft Office PowerPoint</Application>
  <PresentationFormat>Custom</PresentationFormat>
  <Paragraphs>297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Jake Vella</dc:creator>
  <cp:keywords/>
  <dc:description>generated using python-pptx</dc:description>
  <cp:lastModifiedBy>Jake Vella</cp:lastModifiedBy>
  <cp:revision>2</cp:revision>
  <dcterms:created xsi:type="dcterms:W3CDTF">2013-01-27T09:14:16Z</dcterms:created>
  <dcterms:modified xsi:type="dcterms:W3CDTF">2026-05-18T18:25:48Z</dcterms:modified>
  <cp:category/>
</cp:coreProperties>
</file>